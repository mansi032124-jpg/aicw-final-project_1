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80" r:id="rId5"/>
    <p:sldId id="281" r:id="rId6"/>
    <p:sldId id="269" r:id="rId7"/>
    <p:sldId id="270" r:id="rId8"/>
    <p:sldId id="262" r:id="rId9"/>
    <p:sldId id="275"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10" d="100"/>
          <a:sy n="110" d="100"/>
        </p:scale>
        <p:origin x="658" y="67"/>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017190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215596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39673" y="572627"/>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45707" y="2807791"/>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4221642" y="4296187"/>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4128974" y="4572000"/>
            <a:ext cx="1633432" cy="227435"/>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Dr.Mansi</a:t>
            </a: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 Tiwari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3816736" y="4259498"/>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2628833" y="4341881"/>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2166548" y="4573664"/>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mansi032124@gmail.com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141340" y="4235613"/>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40034" y="4337076"/>
            <a:ext cx="2272871" cy="467101"/>
            <a:chOff x="3119274" y="4295282"/>
            <a:chExt cx="2272871" cy="467101"/>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19274" y="4534948"/>
              <a:ext cx="2272871" cy="227435"/>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Ms.Jyoti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68942" y="917233"/>
            <a:ext cx="3854253" cy="1849530"/>
          </a:xfrm>
          <a:prstGeom prst="rect">
            <a:avLst/>
          </a:prstGeom>
        </p:spPr>
      </p:pic>
      <p:graphicFrame>
        <p:nvGraphicFramePr>
          <p:cNvPr id="26" name="Table 25">
            <a:extLst>
              <a:ext uri="{FF2B5EF4-FFF2-40B4-BE49-F238E27FC236}">
                <a16:creationId xmlns:a16="http://schemas.microsoft.com/office/drawing/2014/main" id="{C81DED0E-8121-4A62-5E99-A69B8B50AA1B}"/>
              </a:ext>
            </a:extLst>
          </p:cNvPr>
          <p:cNvGraphicFramePr>
            <a:graphicFrameLocks noGrp="1"/>
          </p:cNvGraphicFramePr>
          <p:nvPr>
            <p:extLst>
              <p:ext uri="{D42A27DB-BD31-4B8C-83A1-F6EECF244321}">
                <p14:modId xmlns:p14="http://schemas.microsoft.com/office/powerpoint/2010/main" val="2037637374"/>
              </p:ext>
            </p:extLst>
          </p:nvPr>
        </p:nvGraphicFramePr>
        <p:xfrm>
          <a:off x="9423" y="3398677"/>
          <a:ext cx="4936267" cy="914400"/>
        </p:xfrm>
        <a:graphic>
          <a:graphicData uri="http://schemas.openxmlformats.org/drawingml/2006/table">
            <a:tbl>
              <a:tblPr>
                <a:tableStyleId>{2D5ABB26-0587-4C30-8999-92F81FD0307C}</a:tableStyleId>
              </a:tblPr>
              <a:tblGrid>
                <a:gridCol w="4936267">
                  <a:extLst>
                    <a:ext uri="{9D8B030D-6E8A-4147-A177-3AD203B41FA5}">
                      <a16:colId xmlns:a16="http://schemas.microsoft.com/office/drawing/2014/main" val="3438802165"/>
                    </a:ext>
                  </a:extLst>
                </a:gridCol>
              </a:tblGrid>
              <a:tr h="370840">
                <a:tc>
                  <a:txBody>
                    <a:bodyPr/>
                    <a:lstStyle/>
                    <a:p>
                      <a:pPr algn="ctr"/>
                      <a:r>
                        <a:rPr lang="en-IN" sz="1800" b="1" kern="1200" dirty="0" smtClean="0">
                          <a:solidFill>
                            <a:schemeClr val="tx1"/>
                          </a:solidFill>
                          <a:effectLst/>
                          <a:latin typeface="+mn-lt"/>
                          <a:ea typeface="+mn-ea"/>
                          <a:cs typeface="+mn-cs"/>
                        </a:rPr>
                        <a:t>FEEDBACK ANALYTICS IN EDUCATION: THE ROLE OF STAKEHOLDERS FEEDBACK IN ACADEMIC EXCELLENCE</a:t>
                      </a:r>
                      <a:endParaRPr lang="en-IN" sz="1400" b="1" kern="1200" dirty="0">
                        <a:solidFill>
                          <a:srgbClr val="0D358D"/>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41395308"/>
                  </a:ext>
                </a:extLst>
              </a:tr>
            </a:tbl>
          </a:graphicData>
        </a:graphic>
      </p:graphicFrame>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lgn="ctr">
              <a:buNone/>
            </a:pPr>
            <a:r>
              <a:rPr lang="en-US" sz="2000" b="1" dirty="0">
                <a:solidFill>
                  <a:srgbClr val="1B3A8A"/>
                </a:solidFill>
                <a:latin typeface="Arial" panose="020B0604020202020204" pitchFamily="34" charset="0"/>
                <a:ea typeface="Calibri" pitchFamily="34" charset="-122"/>
                <a:cs typeface="Arial" panose="020B0604020202020204" pitchFamily="34" charset="0"/>
              </a:rPr>
              <a:t>Outline</a:t>
            </a:r>
            <a:endParaRPr lang="en-US" sz="2000" dirty="0">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256857" y="1378476"/>
            <a:ext cx="4446761" cy="2646878"/>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solidFill>
                  <a:schemeClr val="tx1"/>
                </a:solidFill>
                <a:latin typeface="Arial" panose="020B0604020202020204" pitchFamily="34" charset="0"/>
                <a:ea typeface="Times New Roman" panose="02020603050405020304" pitchFamily="18" charset="0"/>
                <a:cs typeface="Arial" panose="020B0604020202020204" pitchFamily="34" charset="0"/>
              </a:rPr>
              <a:t>Abstract of the </a:t>
            </a:r>
            <a:r>
              <a:rPr lang="en-US" sz="1800" b="1" dirty="0" smtClean="0">
                <a:solidFill>
                  <a:schemeClr val="tx1"/>
                </a:solidFill>
                <a:latin typeface="Arial" panose="020B0604020202020204" pitchFamily="34" charset="0"/>
                <a:ea typeface="Times New Roman" panose="02020603050405020304" pitchFamily="18" charset="0"/>
                <a:cs typeface="Arial" panose="020B0604020202020204" pitchFamily="34" charset="0"/>
              </a:rPr>
              <a:t>Project</a:t>
            </a:r>
          </a:p>
          <a:p>
            <a:pPr marL="228600" indent="-228600">
              <a:spcAft>
                <a:spcPts val="800"/>
              </a:spcAft>
              <a:buFont typeface="Arial" panose="020B0604020202020204" pitchFamily="34" charset="0"/>
              <a:buChar char="•"/>
              <a:tabLst>
                <a:tab pos="4229100" algn="ctr"/>
              </a:tabLst>
            </a:pPr>
            <a:r>
              <a:rPr lang="en-US" b="1" dirty="0" smtClean="0">
                <a:latin typeface="Arial" panose="020B0604020202020204" pitchFamily="34" charset="0"/>
                <a:ea typeface="Times New Roman" panose="02020603050405020304" pitchFamily="18" charset="0"/>
                <a:cs typeface="Arial" panose="020B0604020202020204" pitchFamily="34" charset="0"/>
              </a:rPr>
              <a:t>Objectives</a:t>
            </a:r>
            <a:endParaRPr lang="en-IN" sz="18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b="1" dirty="0">
                <a:latin typeface="Arial" panose="020B0604020202020204" pitchFamily="34" charset="0"/>
                <a:ea typeface="+mn-lt"/>
                <a:cs typeface="Arial" panose="020B0604020202020204" pitchFamily="34" charset="0"/>
              </a:rPr>
              <a:t>Problem </a:t>
            </a:r>
            <a:r>
              <a:rPr lang="en-US" sz="1800" b="1" dirty="0" smtClean="0">
                <a:latin typeface="Arial" panose="020B0604020202020204" pitchFamily="34" charset="0"/>
                <a:ea typeface="+mn-lt"/>
                <a:cs typeface="Arial" panose="020B0604020202020204" pitchFamily="34" charset="0"/>
              </a:rPr>
              <a:t>Statement</a:t>
            </a:r>
          </a:p>
          <a:p>
            <a:pPr marL="228600" indent="-228600">
              <a:spcAft>
                <a:spcPts val="800"/>
              </a:spcAft>
              <a:buFont typeface="Arial" panose="020B0604020202020204" pitchFamily="34" charset="0"/>
              <a:buChar char="•"/>
              <a:tabLst>
                <a:tab pos="4229100" algn="ctr"/>
              </a:tabLst>
            </a:pPr>
            <a:r>
              <a:rPr lang="en-US" b="1" dirty="0" smtClean="0">
                <a:latin typeface="Arial" panose="020B0604020202020204" pitchFamily="34" charset="0"/>
                <a:ea typeface="+mn-lt"/>
                <a:cs typeface="Arial" panose="020B0604020202020204" pitchFamily="34" charset="0"/>
              </a:rPr>
              <a:t>Tools &amp; Techniques</a:t>
            </a:r>
            <a:endParaRPr lang="en-US" sz="1800" b="1" dirty="0">
              <a:latin typeface="Arial" panose="020B0604020202020204"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b="1" dirty="0">
                <a:latin typeface="Arial" panose="020B0604020202020204"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IN" sz="1800" b="1" dirty="0" smtClean="0">
                <a:latin typeface="Arial" panose="020B0604020202020204" pitchFamily="34" charset="0"/>
                <a:ea typeface="+mn-lt"/>
                <a:cs typeface="Arial" panose="020B0604020202020204" pitchFamily="34" charset="0"/>
              </a:rPr>
              <a:t>Conclusion</a:t>
            </a:r>
            <a:endParaRPr lang="en-IN" sz="1800" b="1" dirty="0">
              <a:latin typeface="Arial" panose="020B0604020202020204" pitchFamily="34" charset="0"/>
              <a:ea typeface="+mn-lt"/>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b="1" dirty="0">
                <a:latin typeface="Arial" panose="020B0604020202020204"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7211311" y="2942439"/>
            <a:ext cx="1856562" cy="2129244"/>
          </a:xfrm>
          <a:prstGeom prst="rect">
            <a:avLst/>
          </a:prstGeom>
        </p:spPr>
      </p:pic>
      <p:pic>
        <p:nvPicPr>
          <p:cNvPr id="2" name="Picture 1"/>
          <p:cNvPicPr>
            <a:picLocks noChangeAspect="1"/>
          </p:cNvPicPr>
          <p:nvPr/>
        </p:nvPicPr>
        <p:blipFill>
          <a:blip r:embed="rId5"/>
          <a:stretch>
            <a:fillRect/>
          </a:stretch>
        </p:blipFill>
        <p:spPr>
          <a:xfrm>
            <a:off x="5315132" y="699895"/>
            <a:ext cx="3601137" cy="2071040"/>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516070"/>
            <a:ext cx="8229600" cy="349839"/>
          </a:xfrm>
          <a:prstGeom prst="rect">
            <a:avLst/>
          </a:prstGeom>
          <a:noFill/>
          <a:ln/>
        </p:spPr>
        <p:txBody>
          <a:bodyPr wrap="square" rtlCol="0" anchor="ctr"/>
          <a:lstStyle/>
          <a:p>
            <a:pPr marL="0" indent="0" algn="ctr">
              <a:buNone/>
            </a:pPr>
            <a:r>
              <a:rPr lang="en-US" sz="2000" b="1" dirty="0">
                <a:solidFill>
                  <a:srgbClr val="1B3A8A"/>
                </a:solidFill>
                <a:latin typeface="Arial" panose="020B0604020202020204" pitchFamily="34" charset="0"/>
                <a:ea typeface="Calibri" pitchFamily="34" charset="-122"/>
                <a:cs typeface="Arial" panose="020B0604020202020204" pitchFamily="34" charset="0"/>
              </a:rPr>
              <a:t>Abstract</a:t>
            </a:r>
            <a:endParaRPr lang="en-US" sz="20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40079" y="865909"/>
            <a:ext cx="7127615" cy="4001095"/>
          </a:xfrm>
          <a:prstGeom prst="rect">
            <a:avLst/>
          </a:prstGeom>
          <a:noFill/>
        </p:spPr>
        <p:txBody>
          <a:bodyPr wrap="square">
            <a:spAutoFit/>
          </a:bodyPr>
          <a:lstStyle/>
          <a:p>
            <a:pPr>
              <a:spcAft>
                <a:spcPts val="800"/>
              </a:spcAft>
              <a:tabLst>
                <a:tab pos="4229100" algn="ctr"/>
              </a:tabLst>
            </a:pPr>
            <a:r>
              <a:rPr lang="en-US" sz="1800" b="1" dirty="0" smtClean="0">
                <a:solidFill>
                  <a:schemeClr val="tx1"/>
                </a:solidFill>
                <a:effectLst/>
                <a:latin typeface="Arial" panose="020B0604020202020204" pitchFamily="34" charset="0"/>
                <a:ea typeface="Open Sans" panose="020B0606030504020204" pitchFamily="34" charset="0"/>
                <a:cs typeface="Arial" panose="020B0604020202020204" pitchFamily="34" charset="0"/>
              </a:rPr>
              <a:t>Overview </a:t>
            </a:r>
            <a:r>
              <a:rPr lang="en-US" sz="1800" b="1" dirty="0" smtClean="0">
                <a:solidFill>
                  <a:schemeClr val="tx1"/>
                </a:solidFill>
                <a:effectLst/>
                <a:latin typeface="Lato" panose="020F0502020204030203" pitchFamily="34" charset="0"/>
                <a:ea typeface="Open Sans" panose="020B0606030504020204" pitchFamily="34" charset="0"/>
                <a:cs typeface="Arial" panose="020B0604020202020204" pitchFamily="34" charset="0"/>
              </a:rPr>
              <a:t> </a:t>
            </a:r>
            <a:endParaRPr lang="en-US" sz="1800" b="1" dirty="0" smtClean="0">
              <a:solidFill>
                <a:schemeClr val="tx1"/>
              </a:solidFill>
              <a:effectLst/>
              <a:latin typeface="Lato" panose="020F0502020204030203" pitchFamily="34" charset="0"/>
              <a:ea typeface="Open Sans" panose="020B0606030504020204" pitchFamily="34" charset="0"/>
              <a:cs typeface="Arial" panose="020B0604020202020204" pitchFamily="34" charset="0"/>
            </a:endParaRPr>
          </a:p>
          <a:p>
            <a:pPr algn="just">
              <a:spcAft>
                <a:spcPts val="800"/>
              </a:spcAft>
              <a:tabLst>
                <a:tab pos="4229100" algn="ctr"/>
              </a:tabLst>
            </a:pPr>
            <a:r>
              <a:rPr lang="en-US" dirty="0"/>
              <a:t>Student feedback is essential for evaluating teaching effectiveness and improving learning outcomes, but large volumes of unstructured data often remain underutilized. Manual analysis is time-consuming, biased, and unable to capture deeper insights. While quantitative feedback is easy to analyze, it lacks context, whereas qualitative feedback is rich but complex to process. This project proposes a Student Feedback &amp; Teaching Improvement Analyzer to automate feedback analysis. Using NLP and machine learning, it will perform sentiment analysis, topic modeling, and trend identification. The system will convert raw feedback into actionable insights, highlighting strengths and areas for improvement</a:t>
            </a:r>
            <a:r>
              <a:rPr lang="en-US" dirty="0" smtClean="0"/>
              <a:t>.</a:t>
            </a:r>
            <a:endParaRPr lang="en-US" sz="1800" dirty="0" smtClean="0">
              <a:solidFill>
                <a:schemeClr val="tx1"/>
              </a:solidFill>
              <a:effectLst/>
              <a:latin typeface="Lato" panose="020F0502020204030203" pitchFamily="34" charset="0"/>
              <a:ea typeface="Open Sans" panose="020B0606030504020204" pitchFamily="34" charset="0"/>
              <a:cs typeface="Arial" panose="020B0604020202020204" pitchFamily="34" charset="0"/>
            </a:endParaRPr>
          </a:p>
          <a:p>
            <a:pPr marL="285750" indent="-285750">
              <a:spcAft>
                <a:spcPts val="800"/>
              </a:spcAft>
              <a:buFont typeface="Arial" panose="020B0604020202020204" pitchFamily="34" charset="0"/>
              <a:buChar char="•"/>
              <a:tabLst>
                <a:tab pos="4229100" algn="ctr"/>
              </a:tabLst>
            </a:pPr>
            <a:endParaRPr lang="en-US" b="1" dirty="0"/>
          </a:p>
          <a:p>
            <a:pPr marL="285750" indent="-285750">
              <a:spcAft>
                <a:spcPts val="800"/>
              </a:spcAft>
              <a:buFont typeface="Arial" panose="020B0604020202020204" pitchFamily="34" charset="0"/>
              <a:buChar char="•"/>
              <a:tabLst>
                <a:tab pos="4229100" algn="ctr"/>
              </a:tabLst>
            </a:pPr>
            <a:endPar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7613073" y="954982"/>
            <a:ext cx="1274618"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40079" y="516070"/>
            <a:ext cx="8229600" cy="349839"/>
          </a:xfrm>
          <a:prstGeom prst="rect">
            <a:avLst/>
          </a:prstGeom>
          <a:noFill/>
          <a:ln/>
        </p:spPr>
        <p:txBody>
          <a:bodyPr wrap="square" rtlCol="0" anchor="ctr"/>
          <a:lstStyle/>
          <a:p>
            <a:pPr marL="0" indent="0" algn="ctr">
              <a:buNone/>
            </a:pPr>
            <a:r>
              <a:rPr lang="en-US" sz="2000" b="1" dirty="0" smtClean="0">
                <a:solidFill>
                  <a:srgbClr val="1B3A8A"/>
                </a:solidFill>
                <a:latin typeface="Arial" panose="020B0604020202020204" pitchFamily="34" charset="0"/>
                <a:ea typeface="Calibri" pitchFamily="34" charset="-122"/>
                <a:cs typeface="Arial" panose="020B0604020202020204" pitchFamily="34" charset="0"/>
              </a:rPr>
              <a:t>Objectives </a:t>
            </a:r>
            <a:endParaRPr lang="en-US" sz="20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40079" y="865909"/>
            <a:ext cx="7127615" cy="4555093"/>
          </a:xfrm>
          <a:prstGeom prst="rect">
            <a:avLst/>
          </a:prstGeom>
          <a:noFill/>
        </p:spPr>
        <p:txBody>
          <a:bodyPr wrap="square">
            <a:spAutoFit/>
          </a:bodyPr>
          <a:lstStyle/>
          <a:p>
            <a:pPr>
              <a:spcAft>
                <a:spcPts val="800"/>
              </a:spcAft>
              <a:tabLst>
                <a:tab pos="4229100" algn="ctr"/>
              </a:tabLst>
            </a:pPr>
            <a:r>
              <a:rPr lang="en-US" sz="1800" b="1" dirty="0" smtClean="0">
                <a:solidFill>
                  <a:schemeClr val="tx1"/>
                </a:solidFill>
                <a:effectLst/>
                <a:latin typeface="Arial" panose="020B0604020202020204" pitchFamily="34" charset="0"/>
                <a:ea typeface="Open Sans" panose="020B0606030504020204" pitchFamily="34" charset="0"/>
                <a:cs typeface="Arial" panose="020B0604020202020204" pitchFamily="34" charset="0"/>
              </a:rPr>
              <a:t>Objectives</a:t>
            </a:r>
          </a:p>
          <a:p>
            <a:r>
              <a:rPr lang="en-IN" dirty="0"/>
              <a:t>List the specific goals your project aims to accomplish-</a:t>
            </a:r>
          </a:p>
          <a:p>
            <a:pPr marL="285750" lvl="0" indent="-285750" algn="just">
              <a:buFont typeface="Arial" panose="020B0604020202020204" pitchFamily="34" charset="0"/>
              <a:buChar char="•"/>
            </a:pPr>
            <a:r>
              <a:rPr lang="en-IN" dirty="0"/>
              <a:t>To automatically collect the stakeholder’s feedback data from integrated platforms without requiring manual intervention. </a:t>
            </a:r>
          </a:p>
          <a:p>
            <a:pPr marL="285750" lvl="0" indent="-285750" algn="just">
              <a:buFont typeface="Arial" panose="020B0604020202020204" pitchFamily="34" charset="0"/>
              <a:buChar char="•"/>
            </a:pPr>
            <a:r>
              <a:rPr lang="en-IN" dirty="0"/>
              <a:t>To prepare the Questions to collect the feedback from various stakeholders. </a:t>
            </a:r>
          </a:p>
          <a:p>
            <a:pPr marL="285750" lvl="0" indent="-285750" algn="just">
              <a:buFont typeface="Arial" panose="020B0604020202020204" pitchFamily="34" charset="0"/>
              <a:buChar char="•"/>
            </a:pPr>
            <a:r>
              <a:rPr lang="en-IN" dirty="0"/>
              <a:t>To categorize feedback into predefined options such as strongly disagree, Disagree, Neutral, Agree &amp; Strongly Agree. </a:t>
            </a:r>
          </a:p>
          <a:p>
            <a:pPr marL="285750" lvl="0" indent="-285750" algn="just">
              <a:buFont typeface="Arial" panose="020B0604020202020204" pitchFamily="34" charset="0"/>
              <a:buChar char="•"/>
            </a:pPr>
            <a:r>
              <a:rPr lang="en-IN" dirty="0"/>
              <a:t>To generate summary reports highlighting the top three strengths from student’s perspectives. </a:t>
            </a:r>
          </a:p>
          <a:p>
            <a:pPr marL="285750" lvl="0" indent="-285750" algn="just">
              <a:buFont typeface="Arial" panose="020B0604020202020204" pitchFamily="34" charset="0"/>
              <a:buChar char="•"/>
            </a:pPr>
            <a:r>
              <a:rPr lang="en-IN" dirty="0"/>
              <a:t>To integrate Microsoft Co-pilot to generate automated teaching improvement summaries and recommendations </a:t>
            </a:r>
          </a:p>
          <a:p>
            <a:pPr>
              <a:spcAft>
                <a:spcPts val="800"/>
              </a:spcAft>
              <a:tabLst>
                <a:tab pos="4229100" algn="ctr"/>
              </a:tabLst>
            </a:pPr>
            <a:r>
              <a:rPr lang="en-US" sz="1800" b="1" dirty="0" smtClean="0">
                <a:solidFill>
                  <a:schemeClr val="tx1"/>
                </a:solidFill>
                <a:effectLst/>
                <a:latin typeface="Arial" panose="020B0604020202020204" pitchFamily="34" charset="0"/>
                <a:ea typeface="Open Sans" panose="020B0606030504020204" pitchFamily="34" charset="0"/>
                <a:cs typeface="Arial" panose="020B0604020202020204" pitchFamily="34" charset="0"/>
              </a:rPr>
              <a:t> </a:t>
            </a:r>
            <a:r>
              <a:rPr lang="en-US" sz="1800" b="1" dirty="0" smtClean="0">
                <a:solidFill>
                  <a:schemeClr val="tx1"/>
                </a:solidFill>
                <a:effectLst/>
                <a:latin typeface="Lato" panose="020F0502020204030203" pitchFamily="34" charset="0"/>
                <a:ea typeface="Open Sans" panose="020B0606030504020204" pitchFamily="34" charset="0"/>
                <a:cs typeface="Arial" panose="020B0604020202020204" pitchFamily="34" charset="0"/>
              </a:rPr>
              <a:t> </a:t>
            </a:r>
          </a:p>
          <a:p>
            <a:pPr marL="285750" indent="-285750">
              <a:spcAft>
                <a:spcPts val="800"/>
              </a:spcAft>
              <a:buFont typeface="Arial" panose="020B0604020202020204" pitchFamily="34" charset="0"/>
              <a:buChar char="•"/>
              <a:tabLst>
                <a:tab pos="4229100" algn="ctr"/>
              </a:tabLst>
            </a:pPr>
            <a:endParaRPr lang="en-US" b="1" dirty="0"/>
          </a:p>
          <a:p>
            <a:pPr marL="285750" indent="-285750">
              <a:spcAft>
                <a:spcPts val="800"/>
              </a:spcAft>
              <a:buFont typeface="Arial" panose="020B0604020202020204" pitchFamily="34" charset="0"/>
              <a:buChar char="•"/>
              <a:tabLst>
                <a:tab pos="4229100" algn="ctr"/>
              </a:tabLst>
            </a:pPr>
            <a:endPar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7613073" y="954982"/>
            <a:ext cx="1274618"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40954436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40079" y="516070"/>
            <a:ext cx="8229600" cy="349839"/>
          </a:xfrm>
          <a:prstGeom prst="rect">
            <a:avLst/>
          </a:prstGeom>
          <a:noFill/>
          <a:ln/>
        </p:spPr>
        <p:txBody>
          <a:bodyPr wrap="square" rtlCol="0" anchor="ctr"/>
          <a:lstStyle/>
          <a:p>
            <a:pPr marL="0" indent="0" algn="ctr">
              <a:buNone/>
            </a:pPr>
            <a:r>
              <a:rPr lang="en-US" sz="2000" b="1" dirty="0" smtClean="0">
                <a:solidFill>
                  <a:srgbClr val="1B3A8A"/>
                </a:solidFill>
                <a:latin typeface="Arial" panose="020B0604020202020204" pitchFamily="34" charset="0"/>
                <a:ea typeface="Calibri" pitchFamily="34" charset="-122"/>
                <a:cs typeface="Arial" panose="020B0604020202020204" pitchFamily="34" charset="0"/>
              </a:rPr>
              <a:t>Problem Statement </a:t>
            </a:r>
            <a:endParaRPr lang="en-US" sz="20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40079" y="865909"/>
            <a:ext cx="7127615" cy="4678204"/>
          </a:xfrm>
          <a:prstGeom prst="rect">
            <a:avLst/>
          </a:prstGeom>
          <a:noFill/>
        </p:spPr>
        <p:txBody>
          <a:bodyPr wrap="square">
            <a:spAutoFit/>
          </a:bodyPr>
          <a:lstStyle/>
          <a:p>
            <a:pPr algn="just">
              <a:spcAft>
                <a:spcPts val="800"/>
              </a:spcAft>
              <a:tabLst>
                <a:tab pos="4229100" algn="ctr"/>
              </a:tabLst>
            </a:pPr>
            <a:r>
              <a:rPr lang="en-US" sz="1600" dirty="0"/>
              <a:t>Student feedback is vital for improving teaching and learning outcomes, yet much of it remains underutilized due to its unstructured, subjective, and inconsistent nature, making manual analysis slow and biased. Educational institutions often lack structured, data-driven systems to effectively collect, process, and implement feedback insights. The proposed Student Feedback &amp; Teaching Improvement Analyzer leverages NLP and machine learning to perform sentiment analysis, topic modeling, and trend identification. It transforms raw feedback into actionable insights, enabling educators to identify strengths, address gaps, and enhance overall learning experiences.</a:t>
            </a:r>
            <a:r>
              <a:rPr lang="en-US" sz="1600" b="1" dirty="0" smtClean="0">
                <a:solidFill>
                  <a:schemeClr val="tx1"/>
                </a:solidFill>
                <a:effectLst/>
                <a:latin typeface="Arial" panose="020B0604020202020204" pitchFamily="34" charset="0"/>
                <a:ea typeface="Open Sans" panose="020B0606030504020204" pitchFamily="34" charset="0"/>
                <a:cs typeface="Arial" panose="020B0604020202020204" pitchFamily="34" charset="0"/>
              </a:rPr>
              <a:t> </a:t>
            </a:r>
          </a:p>
          <a:p>
            <a:pPr algn="just"/>
            <a:r>
              <a:rPr lang="en-IN" sz="1600" dirty="0"/>
              <a:t>The following are the major problem – </a:t>
            </a:r>
          </a:p>
          <a:p>
            <a:pPr algn="just"/>
            <a:r>
              <a:rPr lang="en-IN" sz="1600" b="1" dirty="0"/>
              <a:t>1.Ineffective Use of Feedback: </a:t>
            </a:r>
            <a:r>
              <a:rPr lang="en-IN" sz="1600" dirty="0"/>
              <a:t>Student and stakeholder feedback is often collected but not effectively used to improve teaching–learning processes. </a:t>
            </a:r>
          </a:p>
          <a:p>
            <a:pPr algn="just"/>
            <a:r>
              <a:rPr lang="en-IN" sz="1600" b="1" dirty="0"/>
              <a:t>2.Lack of Structured Systems: </a:t>
            </a:r>
            <a:r>
              <a:rPr lang="en-IN" sz="1600" dirty="0"/>
              <a:t>Educational institutions lack integrated and data-driven systems to systematically collect, </a:t>
            </a:r>
            <a:r>
              <a:rPr lang="en-IN" sz="1600" dirty="0" err="1"/>
              <a:t>analyze</a:t>
            </a:r>
            <a:r>
              <a:rPr lang="en-IN" sz="1600" dirty="0"/>
              <a:t>, and implement feedback.</a:t>
            </a:r>
          </a:p>
          <a:p>
            <a:pPr algn="just">
              <a:spcAft>
                <a:spcPts val="800"/>
              </a:spcAft>
              <a:tabLst>
                <a:tab pos="4229100" algn="ctr"/>
              </a:tabLst>
            </a:pPr>
            <a:r>
              <a:rPr lang="en-US" sz="1800" b="1" dirty="0" smtClean="0">
                <a:solidFill>
                  <a:schemeClr val="tx1"/>
                </a:solidFill>
                <a:effectLst/>
                <a:latin typeface="Lato" panose="020F0502020204030203" pitchFamily="34" charset="0"/>
                <a:ea typeface="Open Sans" panose="020B0606030504020204" pitchFamily="34" charset="0"/>
                <a:cs typeface="Arial" panose="020B0604020202020204" pitchFamily="34" charset="0"/>
              </a:rPr>
              <a:t> </a:t>
            </a:r>
          </a:p>
          <a:p>
            <a:pPr marL="285750" indent="-285750">
              <a:spcAft>
                <a:spcPts val="800"/>
              </a:spcAft>
              <a:buFont typeface="Arial" panose="020B0604020202020204" pitchFamily="34" charset="0"/>
              <a:buChar char="•"/>
              <a:tabLst>
                <a:tab pos="4229100" algn="ctr"/>
              </a:tabLst>
            </a:pPr>
            <a:endParaRPr lang="en-US" b="1" dirty="0"/>
          </a:p>
          <a:p>
            <a:pPr marL="285750" indent="-285750">
              <a:spcAft>
                <a:spcPts val="800"/>
              </a:spcAft>
              <a:buFont typeface="Arial" panose="020B0604020202020204" pitchFamily="34" charset="0"/>
              <a:buChar char="•"/>
              <a:tabLst>
                <a:tab pos="4229100" algn="ctr"/>
              </a:tabLst>
            </a:pPr>
            <a:endPar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7613073" y="954982"/>
            <a:ext cx="1274618"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Tree>
    <p:custDataLst>
      <p:tags r:id="rId1"/>
    </p:custDataLst>
    <p:extLst>
      <p:ext uri="{BB962C8B-B14F-4D97-AF65-F5344CB8AC3E}">
        <p14:creationId xmlns:p14="http://schemas.microsoft.com/office/powerpoint/2010/main" val="22185750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849028-F25C-7DA0-DE56-0DC142EECABD}"/>
              </a:ext>
            </a:extLst>
          </p:cNvPr>
          <p:cNvSpPr txBox="1"/>
          <p:nvPr/>
        </p:nvSpPr>
        <p:spPr>
          <a:xfrm>
            <a:off x="132407" y="954992"/>
            <a:ext cx="8325793" cy="3344505"/>
          </a:xfrm>
          <a:prstGeom prst="rect">
            <a:avLst/>
          </a:prstGeom>
          <a:noFill/>
        </p:spPr>
        <p:txBody>
          <a:bodyPr wrap="square">
            <a:spAutoFit/>
          </a:bodyPr>
          <a:lstStyle/>
          <a:p>
            <a:pPr>
              <a:spcAft>
                <a:spcPts val="800"/>
              </a:spcAft>
              <a:tabLst>
                <a:tab pos="4229100" algn="ctr"/>
              </a:tabLst>
            </a:pPr>
            <a:r>
              <a:rPr lang="en-US" b="1" dirty="0" smtClean="0">
                <a:latin typeface="Arial" panose="020B0604020202020204" pitchFamily="34" charset="0"/>
                <a:ea typeface="+mn-lt"/>
                <a:cs typeface="Arial" panose="020B0604020202020204" pitchFamily="34" charset="0"/>
              </a:rPr>
              <a:t>Tools &amp; Technologies</a:t>
            </a:r>
          </a:p>
          <a:p>
            <a:pPr marL="285750" lvl="0" indent="-285750" algn="just" eaLnBrk="0" fontAlgn="base" hangingPunct="0">
              <a:spcBef>
                <a:spcPct val="0"/>
              </a:spcBef>
              <a:spcAft>
                <a:spcPct val="0"/>
              </a:spcAft>
              <a:buFont typeface="Arial" panose="020B0604020202020204" pitchFamily="34" charset="0"/>
              <a:buChar char="•"/>
            </a:pPr>
            <a:r>
              <a:rPr lang="en-US" altLang="en-US" b="1" dirty="0" smtClean="0">
                <a:latin typeface="Arial" panose="020B0604020202020204" pitchFamily="34" charset="0"/>
                <a:cs typeface="Arial" panose="020B0604020202020204" pitchFamily="34" charset="0"/>
              </a:rPr>
              <a:t>Survey </a:t>
            </a:r>
            <a:r>
              <a:rPr lang="en-US" altLang="en-US" b="1" dirty="0">
                <a:latin typeface="Arial" panose="020B0604020202020204" pitchFamily="34" charset="0"/>
                <a:cs typeface="Arial" panose="020B0604020202020204" pitchFamily="34" charset="0"/>
              </a:rPr>
              <a:t>Questionnaire</a:t>
            </a:r>
            <a:r>
              <a:rPr lang="en-US" altLang="en-US" dirty="0">
                <a:latin typeface="Arial" panose="020B0604020202020204" pitchFamily="34" charset="0"/>
                <a:cs typeface="Arial" panose="020B0604020202020204" pitchFamily="34" charset="0"/>
              </a:rPr>
              <a:t> → Collected responses </a:t>
            </a:r>
            <a:r>
              <a:rPr lang="en-US" altLang="en-US" dirty="0" smtClean="0">
                <a:latin typeface="Arial" panose="020B0604020202020204" pitchFamily="34" charset="0"/>
                <a:cs typeface="Arial" panose="020B0604020202020204" pitchFamily="34" charset="0"/>
              </a:rPr>
              <a:t>multiple stakeholder namely students, faculty, alumni, professionals &amp; employers</a:t>
            </a:r>
            <a:endParaRPr lang="en-US" altLang="en-US" dirty="0">
              <a:latin typeface="Arial" panose="020B0604020202020204" pitchFamily="34" charset="0"/>
              <a:cs typeface="Arial" panose="020B0604020202020204" pitchFamily="34"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cs typeface="Arial" panose="020B0604020202020204" pitchFamily="34" charset="0"/>
              </a:rPr>
              <a:t>Microsoft Excel</a:t>
            </a:r>
            <a:r>
              <a:rPr lang="en-US" altLang="en-US" dirty="0">
                <a:latin typeface="Arial" panose="020B0604020202020204" pitchFamily="34" charset="0"/>
                <a:cs typeface="Arial" panose="020B0604020202020204" pitchFamily="34" charset="0"/>
              </a:rPr>
              <a:t> → Data collation, cleaning, tabulation, and visualization </a:t>
            </a:r>
            <a:r>
              <a:rPr lang="en-US" altLang="en-US" dirty="0">
                <a:latin typeface="Arial" panose="020B0604020202020204" pitchFamily="34" charset="0"/>
                <a:cs typeface="Arial" panose="020B0604020202020204" pitchFamily="34" charset="0"/>
              </a:rPr>
              <a:t>(</a:t>
            </a:r>
            <a:r>
              <a:rPr lang="en-US" altLang="en-US" dirty="0" smtClean="0">
                <a:latin typeface="Arial" panose="020B0604020202020204" pitchFamily="34" charset="0"/>
                <a:cs typeface="Arial" panose="020B0604020202020204" pitchFamily="34" charset="0"/>
              </a:rPr>
              <a:t>charts</a:t>
            </a:r>
            <a:r>
              <a:rPr lang="en-US" altLang="en-US" dirty="0">
                <a:latin typeface="Arial" panose="020B0604020202020204" pitchFamily="34" charset="0"/>
                <a:cs typeface="Arial" panose="020B0604020202020204" pitchFamily="34" charset="0"/>
              </a:rPr>
              <a:t>, slicers).</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cs typeface="Arial" panose="020B0604020202020204" pitchFamily="34" charset="0"/>
              </a:rPr>
              <a:t>Interactive Dashboards (Excel)</a:t>
            </a:r>
            <a:r>
              <a:rPr lang="en-US" altLang="en-US" dirty="0">
                <a:latin typeface="Arial" panose="020B0604020202020204" pitchFamily="34" charset="0"/>
                <a:cs typeface="Arial" panose="020B0604020202020204" pitchFamily="34" charset="0"/>
              </a:rPr>
              <a:t> → Workload perception, satisfaction indices, stress frequency.</a:t>
            </a:r>
          </a:p>
          <a:p>
            <a:pPr marL="285750" lvl="0" indent="-285750" algn="just"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cs typeface="Arial" panose="020B0604020202020204" pitchFamily="34" charset="0"/>
              </a:rPr>
              <a:t>Microsoft Copilot</a:t>
            </a:r>
            <a:r>
              <a:rPr lang="en-US" altLang="en-US" dirty="0">
                <a:latin typeface="Arial" panose="020B0604020202020204" pitchFamily="34" charset="0"/>
                <a:cs typeface="Arial" panose="020B0604020202020204" pitchFamily="34" charset="0"/>
              </a:rPr>
              <a:t> → Insight generation and dashboard assistance.</a:t>
            </a:r>
          </a:p>
          <a:p>
            <a:pPr marL="285750" lvl="0" indent="-285750" algn="just" eaLnBrk="0" fontAlgn="base" hangingPunct="0">
              <a:spcBef>
                <a:spcPct val="0"/>
              </a:spcBef>
              <a:spcAft>
                <a:spcPct val="0"/>
              </a:spcAft>
              <a:buFont typeface="Arial" panose="020B0604020202020204" pitchFamily="34" charset="0"/>
              <a:buChar char="•"/>
            </a:pPr>
            <a:r>
              <a:rPr lang="en-US" b="1" dirty="0" smtClean="0">
                <a:latin typeface="Arial" panose="020B0604020202020204" pitchFamily="34" charset="0"/>
                <a:cs typeface="Arial" panose="020B0604020202020204" pitchFamily="34" charset="0"/>
              </a:rPr>
              <a:t>Google Gemini</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Supplemental AI insights and predictive modeling.</a:t>
            </a:r>
            <a:endParaRPr lang="en-US" altLang="en-US" dirty="0">
              <a:latin typeface="Arial" panose="020B0604020202020204" pitchFamily="34" charset="0"/>
              <a:cs typeface="Arial" panose="020B0604020202020204" pitchFamily="34" charset="0"/>
            </a:endParaRPr>
          </a:p>
          <a:p>
            <a:pPr>
              <a:spcAft>
                <a:spcPts val="800"/>
              </a:spcAft>
              <a:tabLst>
                <a:tab pos="4229100" algn="ctr"/>
              </a:tabLst>
            </a:pPr>
            <a:r>
              <a:rPr lang="en-US" b="1" dirty="0" smtClean="0">
                <a:latin typeface="Lato" panose="020F0502020204030203" pitchFamily="34" charset="0"/>
                <a:ea typeface="+mn-lt"/>
                <a:cs typeface="Arial" panose="020B0604020202020204" pitchFamily="34" charset="0"/>
              </a:rPr>
              <a:t> </a:t>
            </a:r>
          </a:p>
          <a:p>
            <a:pPr>
              <a:spcAft>
                <a:spcPts val="800"/>
              </a:spcAft>
              <a:tabLst>
                <a:tab pos="4229100" algn="ctr"/>
              </a:tabLst>
            </a:pPr>
            <a:endParaRPr lang="en-US" b="1" dirty="0" smtClean="0">
              <a:latin typeface="Lato" panose="020F0502020204030203" pitchFamily="34" charset="0"/>
              <a:ea typeface="+mn-lt"/>
              <a:cs typeface="Arial" panose="020B0604020202020204" pitchFamily="34" charset="0"/>
            </a:endParaRPr>
          </a:p>
        </p:txBody>
      </p:sp>
    </p:spTree>
    <p:extLst>
      <p:ext uri="{BB962C8B-B14F-4D97-AF65-F5344CB8AC3E}">
        <p14:creationId xmlns:p14="http://schemas.microsoft.com/office/powerpoint/2010/main" val="30895301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5974" y="953728"/>
            <a:ext cx="8471608" cy="3077766"/>
          </a:xfrm>
          <a:prstGeom prst="rect">
            <a:avLst/>
          </a:prstGeom>
          <a:noFill/>
        </p:spPr>
        <p:txBody>
          <a:bodyPr wrap="square" rtlCol="0">
            <a:spAutoFit/>
          </a:bodyPr>
          <a:lstStyle/>
          <a:p>
            <a:r>
              <a:rPr lang="en-US" b="1" dirty="0" smtClean="0">
                <a:latin typeface="Arial" panose="020B0604020202020204" pitchFamily="34" charset="0"/>
                <a:cs typeface="Arial" panose="020B0604020202020204" pitchFamily="34" charset="0"/>
              </a:rPr>
              <a:t>Expected Outcomes </a:t>
            </a:r>
            <a:r>
              <a:rPr lang="en-US" dirty="0" smtClean="0">
                <a:latin typeface="Arial" panose="020B0604020202020204" pitchFamily="34" charset="0"/>
                <a:cs typeface="Arial" panose="020B0604020202020204" pitchFamily="34" charset="0"/>
              </a:rPr>
              <a:t>–</a:t>
            </a:r>
          </a:p>
          <a:p>
            <a:endParaRPr lang="en-US" dirty="0" smtClean="0">
              <a:latin typeface="Arial" panose="020B0604020202020204" pitchFamily="34" charset="0"/>
              <a:cs typeface="Arial" panose="020B0604020202020204" pitchFamily="34" charset="0"/>
            </a:endParaRPr>
          </a:p>
          <a:p>
            <a:pPr marL="285750" lvl="0" indent="-285750" algn="just">
              <a:buFont typeface="Arial" panose="020B0604020202020204" pitchFamily="34" charset="0"/>
              <a:buChar char="•"/>
            </a:pPr>
            <a:r>
              <a:rPr lang="en-IN" sz="1400" dirty="0"/>
              <a:t>Automated Feedback Collection will automatically gather student feedback from integrated platforms, reducing manual work and ensuring timely and accurate data </a:t>
            </a:r>
            <a:r>
              <a:rPr lang="en-IN" sz="1400" dirty="0" smtClean="0"/>
              <a:t>collection.</a:t>
            </a:r>
          </a:p>
          <a:p>
            <a:pPr marL="285750" lvl="0" indent="-285750" algn="just">
              <a:buFont typeface="Arial" panose="020B0604020202020204" pitchFamily="34" charset="0"/>
              <a:buChar char="•"/>
            </a:pPr>
            <a:r>
              <a:rPr lang="en-IN" sz="1400" dirty="0" smtClean="0"/>
              <a:t>A </a:t>
            </a:r>
            <a:r>
              <a:rPr lang="en-IN" sz="1400" dirty="0"/>
              <a:t>well-designed set of feedback questions will be developed to effectively capture students’ perceptions of teaching quality, course delivery, and learning </a:t>
            </a:r>
            <a:r>
              <a:rPr lang="en-IN" sz="1400" dirty="0" smtClean="0"/>
              <a:t>experience.</a:t>
            </a:r>
          </a:p>
          <a:p>
            <a:pPr marL="285750" lvl="0" indent="-285750" algn="just">
              <a:buFont typeface="Arial" panose="020B0604020202020204" pitchFamily="34" charset="0"/>
              <a:buChar char="•"/>
            </a:pPr>
            <a:r>
              <a:rPr lang="en-IN" sz="1400" dirty="0" smtClean="0"/>
              <a:t>Student </a:t>
            </a:r>
            <a:r>
              <a:rPr lang="en-IN" sz="1400" dirty="0"/>
              <a:t>responses will be systematically categorized into predefined options such as Strongly Disagree, Disagree, Neutral, Agree, and Strongly Agree, enabling consistent analysis and </a:t>
            </a:r>
            <a:r>
              <a:rPr lang="en-IN" sz="1400" dirty="0" smtClean="0"/>
              <a:t>comparison.</a:t>
            </a:r>
          </a:p>
          <a:p>
            <a:pPr marL="285750" lvl="0" indent="-285750" algn="just">
              <a:buFont typeface="Arial" panose="020B0604020202020204" pitchFamily="34" charset="0"/>
              <a:buChar char="•"/>
            </a:pPr>
            <a:r>
              <a:rPr lang="en-IN" sz="1400" dirty="0" smtClean="0"/>
              <a:t>The </a:t>
            </a:r>
            <a:r>
              <a:rPr lang="en-IN" sz="1400" dirty="0"/>
              <a:t>system will generate summary reports highlighting the top three strengths of teaching from students’ perspectives, helping faculty identify their effective teaching </a:t>
            </a:r>
            <a:r>
              <a:rPr lang="en-IN" sz="1400" dirty="0" smtClean="0"/>
              <a:t>practices.</a:t>
            </a:r>
          </a:p>
          <a:p>
            <a:pPr marL="285750" lvl="0" indent="-285750" algn="just">
              <a:buFont typeface="Arial" panose="020B0604020202020204" pitchFamily="34" charset="0"/>
              <a:buChar char="•"/>
            </a:pPr>
            <a:r>
              <a:rPr lang="en-IN" sz="1400" dirty="0" smtClean="0"/>
              <a:t>Integration </a:t>
            </a:r>
            <a:r>
              <a:rPr lang="en-IN" sz="1400" dirty="0"/>
              <a:t>of Microsoft </a:t>
            </a:r>
            <a:r>
              <a:rPr lang="en-IN" sz="1400" dirty="0" err="1"/>
              <a:t>Copilot</a:t>
            </a:r>
            <a:r>
              <a:rPr lang="en-IN" sz="1400" dirty="0"/>
              <a:t> will provide automated summaries, insights, and recommendations to support faculty in improving teaching strategies and enhancing student learning outcomes.</a:t>
            </a:r>
          </a:p>
          <a:p>
            <a:endParaRPr lang="en-US" dirty="0"/>
          </a:p>
        </p:txBody>
      </p:sp>
    </p:spTree>
    <p:extLst>
      <p:ext uri="{BB962C8B-B14F-4D97-AF65-F5344CB8AC3E}">
        <p14:creationId xmlns:p14="http://schemas.microsoft.com/office/powerpoint/2010/main" val="20768997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133856" y="1425879"/>
            <a:ext cx="1371600" cy="992694"/>
          </a:xfrm>
          <a:prstGeom prst="ellipse">
            <a:avLst/>
          </a:prstGeom>
          <a:solidFill>
            <a:srgbClr val="1565C0"/>
          </a:solidFill>
          <a:ln w="38100">
            <a:solidFill>
              <a:srgbClr val="FFFFFF"/>
            </a:solidFill>
            <a:prstDash val="solid"/>
          </a:ln>
        </p:spPr>
        <p:txBody>
          <a:bodyPr/>
          <a:lstStyle/>
          <a:p>
            <a:r>
              <a:rPr lang="en-IN" b="1" dirty="0" smtClean="0">
                <a:solidFill>
                  <a:schemeClr val="bg1"/>
                </a:solidFill>
                <a:latin typeface="Lato" panose="020F0502020204030203" pitchFamily="34" charset="0"/>
              </a:rPr>
              <a:t>Demo 1</a:t>
            </a:r>
            <a:endParaRPr lang="en-IN" b="1" dirty="0">
              <a:solidFill>
                <a:schemeClr val="bg1"/>
              </a:solidFill>
              <a:latin typeface="Lato" panose="020F0502020204030203" pitchFamily="34" charset="0"/>
            </a:endParaRPr>
          </a:p>
        </p:txBody>
      </p:sp>
      <p:sp>
        <p:nvSpPr>
          <p:cNvPr id="4" name="Text 2"/>
          <p:cNvSpPr/>
          <p:nvPr/>
        </p:nvSpPr>
        <p:spPr>
          <a:xfrm>
            <a:off x="125487" y="542736"/>
            <a:ext cx="8229600" cy="438912"/>
          </a:xfrm>
          <a:prstGeom prst="rect">
            <a:avLst/>
          </a:prstGeom>
          <a:noFill/>
          <a:ln/>
        </p:spPr>
        <p:txBody>
          <a:bodyPr wrap="square" rtlCol="0" anchor="ctr"/>
          <a:lstStyle/>
          <a:p>
            <a:pPr marL="0" indent="0" algn="ctr">
              <a:buNone/>
            </a:pPr>
            <a:r>
              <a:rPr lang="en-US" sz="2000" b="1" dirty="0">
                <a:solidFill>
                  <a:srgbClr val="1B3A8A"/>
                </a:solidFill>
                <a:latin typeface="Arial" panose="020B0604020202020204" pitchFamily="34" charset="0"/>
                <a:ea typeface="Calibri" pitchFamily="34" charset="-122"/>
                <a:cs typeface="Arial" panose="020B0604020202020204" pitchFamily="34" charset="0"/>
              </a:rPr>
              <a:t>Live Demo of </a:t>
            </a:r>
            <a:r>
              <a:rPr lang="en-US" sz="2000" b="1" dirty="0" smtClean="0">
                <a:solidFill>
                  <a:srgbClr val="1B3A8A"/>
                </a:solidFill>
                <a:latin typeface="Arial" panose="020B0604020202020204" pitchFamily="34" charset="0"/>
                <a:ea typeface="Calibri" pitchFamily="34" charset="-122"/>
                <a:cs typeface="Arial" panose="020B0604020202020204" pitchFamily="34" charset="0"/>
              </a:rPr>
              <a:t>Project – Pie Charts and Bar Charts</a:t>
            </a:r>
            <a:endParaRPr lang="en-US" sz="2000" dirty="0">
              <a:latin typeface="Arial" panose="020B0604020202020204"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sz="1600" b="1" dirty="0">
                <a:latin typeface="Arial" panose="020B0604020202020204" pitchFamily="34" charset="0"/>
                <a:ea typeface="Calibri" pitchFamily="34" charset="-122"/>
                <a:cs typeface="Arial" panose="020B0604020202020204" pitchFamily="34" charset="0"/>
              </a:rPr>
              <a:t>Here's the list of some demo screenshots / features of the project:</a:t>
            </a:r>
            <a:endParaRPr lang="en-US" sz="1600" b="1" dirty="0">
              <a:latin typeface="Arial" panose="020B0604020202020204" pitchFamily="34" charset="0"/>
              <a:cs typeface="Arial" panose="020B0604020202020204"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6212934" y="1386767"/>
            <a:ext cx="1287534" cy="1031806"/>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5" name="Text 13"/>
          <p:cNvSpPr/>
          <p:nvPr/>
        </p:nvSpPr>
        <p:spPr>
          <a:xfrm>
            <a:off x="6435178" y="1519305"/>
            <a:ext cx="2788920" cy="411480"/>
          </a:xfrm>
          <a:prstGeom prst="rect">
            <a:avLst/>
          </a:prstGeom>
          <a:noFill/>
          <a:ln/>
        </p:spPr>
        <p:txBody>
          <a:bodyPr wrap="square" rtlCol="0" anchor="ctr"/>
          <a:lstStyle/>
          <a:p>
            <a:pPr indent="0">
              <a:buNone/>
            </a:pPr>
            <a:r>
              <a:rPr lang="en-US" b="1" dirty="0">
                <a:solidFill>
                  <a:schemeClr val="bg1"/>
                </a:solidFill>
                <a:latin typeface="Lato" panose="020F0502020204030203" pitchFamily="34" charset="0"/>
              </a:rPr>
              <a:t>Demo 2</a:t>
            </a: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8" name="TextBox 7"/>
          <p:cNvSpPr txBox="1"/>
          <p:nvPr/>
        </p:nvSpPr>
        <p:spPr>
          <a:xfrm>
            <a:off x="100134" y="4291438"/>
            <a:ext cx="4210539" cy="584775"/>
          </a:xfrm>
          <a:prstGeom prst="rect">
            <a:avLst/>
          </a:prstGeom>
          <a:solidFill>
            <a:schemeClr val="accent2">
              <a:lumMod val="40000"/>
              <a:lumOff val="60000"/>
            </a:schemeClr>
          </a:solidFill>
        </p:spPr>
        <p:txBody>
          <a:bodyPr wrap="square" rtlCol="0">
            <a:spAutoFit/>
          </a:bodyPr>
          <a:lstStyle/>
          <a:p>
            <a:pPr algn="ctr"/>
            <a:r>
              <a:rPr lang="en-US" sz="1600" b="1" dirty="0" smtClean="0">
                <a:latin typeface="Arial" panose="020B0604020202020204" pitchFamily="34" charset="0"/>
                <a:cs typeface="Arial" panose="020B0604020202020204" pitchFamily="34" charset="0"/>
              </a:rPr>
              <a:t>Overall Feedback Tend through Radar chart of 2024-25 &amp; 2025-26</a:t>
            </a:r>
            <a:endParaRPr lang="en-US" sz="1600" b="1" dirty="0">
              <a:latin typeface="Arial" panose="020B0604020202020204" pitchFamily="34" charset="0"/>
              <a:cs typeface="Arial" panose="020B0604020202020204" pitchFamily="34" charset="0"/>
            </a:endParaRPr>
          </a:p>
        </p:txBody>
      </p:sp>
      <p:sp>
        <p:nvSpPr>
          <p:cNvPr id="22" name="TextBox 21"/>
          <p:cNvSpPr txBox="1"/>
          <p:nvPr/>
        </p:nvSpPr>
        <p:spPr>
          <a:xfrm>
            <a:off x="4787679" y="4291437"/>
            <a:ext cx="4138045" cy="584775"/>
          </a:xfrm>
          <a:prstGeom prst="rect">
            <a:avLst/>
          </a:prstGeom>
          <a:solidFill>
            <a:schemeClr val="accent2">
              <a:lumMod val="40000"/>
              <a:lumOff val="60000"/>
            </a:schemeClr>
          </a:solidFill>
        </p:spPr>
        <p:txBody>
          <a:bodyPr wrap="square" rtlCol="0">
            <a:spAutoFit/>
          </a:bodyPr>
          <a:lstStyle/>
          <a:p>
            <a:pPr algn="ctr"/>
            <a:r>
              <a:rPr lang="en-US" sz="1600" b="1" dirty="0" smtClean="0">
                <a:latin typeface="Arial" panose="020B0604020202020204" pitchFamily="34" charset="0"/>
                <a:cs typeface="Arial" panose="020B0604020202020204" pitchFamily="34" charset="0"/>
              </a:rPr>
              <a:t>Overall Average Score Comparison for all categories of stake holders</a:t>
            </a:r>
            <a:endParaRPr lang="en-US" sz="1600" b="1" dirty="0">
              <a:latin typeface="Arial" panose="020B0604020202020204" pitchFamily="34" charset="0"/>
              <a:cs typeface="Arial" panose="020B0604020202020204" pitchFamily="34" charset="0"/>
            </a:endParaRPr>
          </a:p>
        </p:txBody>
      </p:sp>
      <p:pic>
        <p:nvPicPr>
          <p:cNvPr id="17" name="Picture 16"/>
          <p:cNvPicPr/>
          <p:nvPr/>
        </p:nvPicPr>
        <p:blipFill>
          <a:blip r:embed="rId4"/>
          <a:srcRect/>
          <a:stretch>
            <a:fillRect/>
          </a:stretch>
        </p:blipFill>
        <p:spPr bwMode="auto">
          <a:xfrm>
            <a:off x="157734" y="1888033"/>
            <a:ext cx="4000500" cy="2143640"/>
          </a:xfrm>
          <a:prstGeom prst="rect">
            <a:avLst/>
          </a:prstGeom>
        </p:spPr>
      </p:pic>
      <p:pic>
        <p:nvPicPr>
          <p:cNvPr id="19" name="Picture 18"/>
          <p:cNvPicPr/>
          <p:nvPr/>
        </p:nvPicPr>
        <p:blipFill>
          <a:blip r:embed="rId5"/>
          <a:srcRect/>
          <a:stretch>
            <a:fillRect/>
          </a:stretch>
        </p:blipFill>
        <p:spPr bwMode="auto">
          <a:xfrm>
            <a:off x="4864851" y="1834195"/>
            <a:ext cx="3949965" cy="1982174"/>
          </a:xfrm>
          <a:prstGeom prst="rect">
            <a:avLst/>
          </a:prstGeom>
        </p:spPr>
      </p:pic>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5920170" y="900336"/>
            <a:ext cx="1408298" cy="1408298"/>
          </a:xfrm>
          <a:prstGeom prst="rect">
            <a:avLst/>
          </a:prstGeom>
        </p:spPr>
      </p:pic>
      <p:pic>
        <p:nvPicPr>
          <p:cNvPr id="4" name="Picture 3"/>
          <p:cNvPicPr>
            <a:picLocks noChangeAspect="1"/>
          </p:cNvPicPr>
          <p:nvPr/>
        </p:nvPicPr>
        <p:blipFill>
          <a:blip r:embed="rId3"/>
          <a:stretch>
            <a:fillRect/>
          </a:stretch>
        </p:blipFill>
        <p:spPr>
          <a:xfrm>
            <a:off x="1226226" y="900336"/>
            <a:ext cx="1408298" cy="1408298"/>
          </a:xfrm>
          <a:prstGeom prst="rect">
            <a:avLst/>
          </a:prstGeom>
        </p:spPr>
      </p:pic>
      <p:sp>
        <p:nvSpPr>
          <p:cNvPr id="6" name="TextBox 5"/>
          <p:cNvSpPr txBox="1"/>
          <p:nvPr/>
        </p:nvSpPr>
        <p:spPr>
          <a:xfrm>
            <a:off x="1449387" y="1063654"/>
            <a:ext cx="1042273" cy="369332"/>
          </a:xfrm>
          <a:prstGeom prst="rect">
            <a:avLst/>
          </a:prstGeom>
          <a:noFill/>
        </p:spPr>
        <p:txBody>
          <a:bodyPr wrap="none" rtlCol="0">
            <a:spAutoFit/>
          </a:bodyPr>
          <a:lstStyle/>
          <a:p>
            <a:r>
              <a:rPr lang="en-US" b="1" dirty="0" smtClean="0">
                <a:solidFill>
                  <a:schemeClr val="bg1"/>
                </a:solidFill>
              </a:rPr>
              <a:t>Demo - 3</a:t>
            </a:r>
            <a:endParaRPr lang="en-US" b="1" dirty="0">
              <a:solidFill>
                <a:schemeClr val="bg1"/>
              </a:solidFill>
            </a:endParaRPr>
          </a:p>
        </p:txBody>
      </p:sp>
      <p:sp>
        <p:nvSpPr>
          <p:cNvPr id="9" name="TextBox 8"/>
          <p:cNvSpPr txBox="1"/>
          <p:nvPr/>
        </p:nvSpPr>
        <p:spPr>
          <a:xfrm>
            <a:off x="6164899" y="1058532"/>
            <a:ext cx="918841" cy="369332"/>
          </a:xfrm>
          <a:prstGeom prst="rect">
            <a:avLst/>
          </a:prstGeom>
          <a:noFill/>
        </p:spPr>
        <p:txBody>
          <a:bodyPr wrap="none" rtlCol="0">
            <a:spAutoFit/>
          </a:bodyPr>
          <a:lstStyle/>
          <a:p>
            <a:r>
              <a:rPr lang="en-US" dirty="0" smtClean="0">
                <a:solidFill>
                  <a:schemeClr val="bg1"/>
                </a:solidFill>
              </a:rPr>
              <a:t>Demo 4</a:t>
            </a:r>
            <a:endParaRPr lang="en-US" dirty="0">
              <a:solidFill>
                <a:schemeClr val="bg1"/>
              </a:solidFill>
            </a:endParaRPr>
          </a:p>
        </p:txBody>
      </p:sp>
      <p:sp>
        <p:nvSpPr>
          <p:cNvPr id="11" name="TextBox 10"/>
          <p:cNvSpPr txBox="1"/>
          <p:nvPr/>
        </p:nvSpPr>
        <p:spPr>
          <a:xfrm>
            <a:off x="994694" y="3880862"/>
            <a:ext cx="1951658" cy="338554"/>
          </a:xfrm>
          <a:prstGeom prst="rect">
            <a:avLst/>
          </a:prstGeom>
          <a:solidFill>
            <a:schemeClr val="accent2">
              <a:lumMod val="40000"/>
              <a:lumOff val="60000"/>
            </a:schemeClr>
          </a:solidFill>
        </p:spPr>
        <p:txBody>
          <a:bodyPr wrap="square" rtlCol="0">
            <a:spAutoFit/>
          </a:bodyPr>
          <a:lstStyle/>
          <a:p>
            <a:r>
              <a:rPr lang="en-US" sz="1600" b="1" dirty="0" smtClean="0">
                <a:latin typeface="Arial" panose="020B0604020202020204" pitchFamily="34" charset="0"/>
                <a:cs typeface="Arial" panose="020B0604020202020204" pitchFamily="34" charset="0"/>
              </a:rPr>
              <a:t>A </a:t>
            </a:r>
            <a:r>
              <a:rPr lang="en-US" sz="1600" b="1" dirty="0" err="1" smtClean="0">
                <a:latin typeface="Arial" panose="020B0604020202020204" pitchFamily="34" charset="0"/>
                <a:cs typeface="Arial" panose="020B0604020202020204" pitchFamily="34" charset="0"/>
              </a:rPr>
              <a:t>Trendline</a:t>
            </a:r>
            <a:r>
              <a:rPr lang="en-US" sz="1600" b="1" dirty="0" smtClean="0">
                <a:latin typeface="Arial" panose="020B0604020202020204" pitchFamily="34" charset="0"/>
                <a:cs typeface="Arial" panose="020B0604020202020204" pitchFamily="34" charset="0"/>
              </a:rPr>
              <a:t> chart</a:t>
            </a:r>
            <a:endParaRPr lang="en-US" sz="1600" b="1" dirty="0">
              <a:latin typeface="Arial" panose="020B0604020202020204" pitchFamily="34" charset="0"/>
              <a:cs typeface="Arial" panose="020B0604020202020204" pitchFamily="34" charset="0"/>
            </a:endParaRPr>
          </a:p>
        </p:txBody>
      </p:sp>
      <p:sp>
        <p:nvSpPr>
          <p:cNvPr id="12" name="TextBox 11"/>
          <p:cNvSpPr txBox="1"/>
          <p:nvPr/>
        </p:nvSpPr>
        <p:spPr>
          <a:xfrm>
            <a:off x="4803540" y="4299613"/>
            <a:ext cx="4042587" cy="338554"/>
          </a:xfrm>
          <a:prstGeom prst="rect">
            <a:avLst/>
          </a:prstGeom>
          <a:solidFill>
            <a:schemeClr val="accent2">
              <a:lumMod val="40000"/>
              <a:lumOff val="60000"/>
            </a:schemeClr>
          </a:solidFill>
        </p:spPr>
        <p:txBody>
          <a:bodyPr wrap="square" rtlCol="0">
            <a:spAutoFit/>
          </a:bodyPr>
          <a:lstStyle/>
          <a:p>
            <a:r>
              <a:rPr lang="en-US" sz="1600" b="1" dirty="0" smtClean="0">
                <a:latin typeface="Arial" panose="020B0604020202020204" pitchFamily="34" charset="0"/>
                <a:cs typeface="Arial" panose="020B0604020202020204" pitchFamily="34" charset="0"/>
              </a:rPr>
              <a:t>A trend Chart showing all categories</a:t>
            </a:r>
            <a:endParaRPr lang="en-US" sz="1600" b="1" dirty="0">
              <a:latin typeface="Arial" panose="020B0604020202020204" pitchFamily="34" charset="0"/>
              <a:cs typeface="Arial" panose="020B0604020202020204" pitchFamily="34" charset="0"/>
            </a:endParaRPr>
          </a:p>
        </p:txBody>
      </p:sp>
      <p:sp>
        <p:nvSpPr>
          <p:cNvPr id="13" name="Text 2"/>
          <p:cNvSpPr/>
          <p:nvPr/>
        </p:nvSpPr>
        <p:spPr>
          <a:xfrm>
            <a:off x="125487" y="542736"/>
            <a:ext cx="8229600" cy="438912"/>
          </a:xfrm>
          <a:prstGeom prst="rect">
            <a:avLst/>
          </a:prstGeom>
          <a:noFill/>
          <a:ln/>
        </p:spPr>
        <p:txBody>
          <a:bodyPr wrap="square" rtlCol="0" anchor="ctr"/>
          <a:lstStyle/>
          <a:p>
            <a:pPr marL="0" indent="0" algn="ctr">
              <a:buNone/>
            </a:pPr>
            <a:r>
              <a:rPr lang="en-US" sz="2000" b="1" dirty="0">
                <a:solidFill>
                  <a:srgbClr val="1B3A8A"/>
                </a:solidFill>
                <a:latin typeface="Arial" panose="020B0604020202020204" pitchFamily="34" charset="0"/>
                <a:ea typeface="Calibri" pitchFamily="34" charset="-122"/>
                <a:cs typeface="Arial" panose="020B0604020202020204" pitchFamily="34" charset="0"/>
              </a:rPr>
              <a:t>Live Demo of </a:t>
            </a:r>
            <a:r>
              <a:rPr lang="en-US" sz="2000" b="1" dirty="0" smtClean="0">
                <a:solidFill>
                  <a:srgbClr val="1B3A8A"/>
                </a:solidFill>
                <a:latin typeface="Arial" panose="020B0604020202020204" pitchFamily="34" charset="0"/>
                <a:ea typeface="Calibri" pitchFamily="34" charset="-122"/>
                <a:cs typeface="Arial" panose="020B0604020202020204" pitchFamily="34" charset="0"/>
              </a:rPr>
              <a:t>Project – Pie Charts and Bar Charts</a:t>
            </a:r>
            <a:endParaRPr lang="en-US" sz="2000" dirty="0">
              <a:latin typeface="Arial" panose="020B0604020202020204" pitchFamily="34" charset="0"/>
              <a:cs typeface="Arial" panose="020B0604020202020204" pitchFamily="34" charset="0"/>
            </a:endParaRPr>
          </a:p>
        </p:txBody>
      </p:sp>
      <p:pic>
        <p:nvPicPr>
          <p:cNvPr id="14" name="Picture 13"/>
          <p:cNvPicPr/>
          <p:nvPr/>
        </p:nvPicPr>
        <p:blipFill>
          <a:blip r:embed="rId4"/>
          <a:srcRect/>
          <a:stretch>
            <a:fillRect/>
          </a:stretch>
        </p:blipFill>
        <p:spPr bwMode="auto">
          <a:xfrm>
            <a:off x="568037" y="1413168"/>
            <a:ext cx="2978728" cy="2438400"/>
          </a:xfrm>
          <a:prstGeom prst="rect">
            <a:avLst/>
          </a:prstGeom>
        </p:spPr>
      </p:pic>
      <p:pic>
        <p:nvPicPr>
          <p:cNvPr id="15" name="Picture 14"/>
          <p:cNvPicPr/>
          <p:nvPr/>
        </p:nvPicPr>
        <p:blipFill>
          <a:blip r:embed="rId5"/>
          <a:stretch>
            <a:fillRect/>
          </a:stretch>
        </p:blipFill>
        <p:spPr>
          <a:xfrm>
            <a:off x="4156364" y="1413168"/>
            <a:ext cx="4759036" cy="2978034"/>
          </a:xfrm>
          <a:prstGeom prst="rect">
            <a:avLst/>
          </a:prstGeom>
        </p:spPr>
      </p:pic>
    </p:spTree>
    <p:extLst>
      <p:ext uri="{BB962C8B-B14F-4D97-AF65-F5344CB8AC3E}">
        <p14:creationId xmlns:p14="http://schemas.microsoft.com/office/powerpoint/2010/main" val="40837172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485742"/>
            <a:ext cx="8229600" cy="438912"/>
          </a:xfrm>
          <a:prstGeom prst="rect">
            <a:avLst/>
          </a:prstGeom>
          <a:noFill/>
          <a:ln/>
        </p:spPr>
        <p:txBody>
          <a:bodyPr wrap="square" rtlCol="0" anchor="ctr"/>
          <a:lstStyle/>
          <a:p>
            <a:pPr marL="0" indent="0" algn="ctr">
              <a:buNone/>
            </a:pPr>
            <a:r>
              <a:rPr lang="en-US" b="1" dirty="0" smtClean="0">
                <a:solidFill>
                  <a:srgbClr val="1B3A8A"/>
                </a:solidFill>
                <a:latin typeface="Arial" panose="020B0604020202020204" pitchFamily="34" charset="0"/>
                <a:ea typeface="Calibri" pitchFamily="34" charset="-122"/>
                <a:cs typeface="Arial" panose="020B0604020202020204" pitchFamily="34" charset="0"/>
              </a:rPr>
              <a:t>Conclusion</a:t>
            </a:r>
            <a:endParaRPr lang="en-US" dirty="0">
              <a:latin typeface="Arial" panose="020B0604020202020204" pitchFamily="34" charset="0"/>
              <a:cs typeface="Arial" panose="020B0604020202020204" pitchFamily="34" charset="0"/>
            </a:endParaRPr>
          </a:p>
        </p:txBody>
      </p:sp>
      <p:sp>
        <p:nvSpPr>
          <p:cNvPr id="14" name="Text 12"/>
          <p:cNvSpPr/>
          <p:nvPr/>
        </p:nvSpPr>
        <p:spPr>
          <a:xfrm>
            <a:off x="123246" y="1082104"/>
            <a:ext cx="5235335" cy="2880296"/>
          </a:xfrm>
          <a:prstGeom prst="rect">
            <a:avLst/>
          </a:prstGeom>
          <a:noFill/>
          <a:ln/>
        </p:spPr>
        <p:txBody>
          <a:bodyPr wrap="square" rtlCol="0" anchor="t"/>
          <a:lstStyle/>
          <a:p>
            <a:pPr marL="285750" indent="-28575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
        <p:nvSpPr>
          <p:cNvPr id="2" name="Rectangle 1"/>
          <p:cNvSpPr/>
          <p:nvPr/>
        </p:nvSpPr>
        <p:spPr>
          <a:xfrm>
            <a:off x="519546" y="960691"/>
            <a:ext cx="8077200" cy="2923877"/>
          </a:xfrm>
          <a:prstGeom prst="rect">
            <a:avLst/>
          </a:prstGeom>
        </p:spPr>
        <p:txBody>
          <a:bodyPr wrap="square">
            <a:spAutoFit/>
          </a:bodyPr>
          <a:lstStyle/>
          <a:p>
            <a:pPr lvl="0" algn="just">
              <a:spcBef>
                <a:spcPts val="300"/>
              </a:spcBef>
              <a:spcAft>
                <a:spcPts val="300"/>
              </a:spcAft>
            </a:pPr>
            <a:r>
              <a:rPr lang="en-IN" sz="1400" dirty="0">
                <a:latin typeface="Arial" panose="020B0604020202020204" pitchFamily="34" charset="0"/>
                <a:ea typeface="Arial" panose="020B0604020202020204" pitchFamily="34" charset="0"/>
              </a:rPr>
              <a:t>All five stakeholder categories show positive or stable scores in 2025-26 compared to 2024-25.</a:t>
            </a:r>
          </a:p>
          <a:p>
            <a:pPr marL="342900" lvl="0" indent="-342900" algn="just">
              <a:spcBef>
                <a:spcPts val="300"/>
              </a:spcBef>
              <a:spcAft>
                <a:spcPts val="300"/>
              </a:spcAft>
              <a:buFont typeface="Arial" panose="020B0604020202020204" pitchFamily="34" charset="0"/>
              <a:buChar char="•"/>
            </a:pPr>
            <a:r>
              <a:rPr lang="en-IN" sz="1400" dirty="0">
                <a:latin typeface="Arial" panose="020B0604020202020204" pitchFamily="34" charset="0"/>
                <a:ea typeface="Arial" panose="020B0604020202020204" pitchFamily="34" charset="0"/>
              </a:rPr>
              <a:t>Employer feedback recorded the most significant improvement, reflecting enhanced student placement readiness.</a:t>
            </a:r>
          </a:p>
          <a:p>
            <a:pPr marL="342900" lvl="0" indent="-342900" algn="just">
              <a:spcBef>
                <a:spcPts val="300"/>
              </a:spcBef>
              <a:spcAft>
                <a:spcPts val="300"/>
              </a:spcAft>
              <a:buFont typeface="Arial" panose="020B0604020202020204" pitchFamily="34" charset="0"/>
              <a:buChar char="•"/>
            </a:pPr>
            <a:r>
              <a:rPr lang="en-IN" sz="1400" dirty="0">
                <a:latin typeface="Arial" panose="020B0604020202020204" pitchFamily="34" charset="0"/>
                <a:ea typeface="Arial" panose="020B0604020202020204" pitchFamily="34" charset="0"/>
              </a:rPr>
              <a:t>Faculty scores remained consistent, indicating stable academic infrastructure and governance.</a:t>
            </a:r>
          </a:p>
          <a:p>
            <a:pPr marL="342900" lvl="0" indent="-342900" algn="just">
              <a:spcBef>
                <a:spcPts val="300"/>
              </a:spcBef>
              <a:spcAft>
                <a:spcPts val="300"/>
              </a:spcAft>
              <a:buFont typeface="Arial" panose="020B0604020202020204" pitchFamily="34" charset="0"/>
              <a:buChar char="•"/>
            </a:pPr>
            <a:r>
              <a:rPr lang="en-IN" sz="1400" dirty="0">
                <a:latin typeface="Arial" panose="020B0604020202020204" pitchFamily="34" charset="0"/>
                <a:ea typeface="Arial" panose="020B0604020202020204" pitchFamily="34" charset="0"/>
              </a:rPr>
              <a:t>Consistently high scores in teaching quality, campus infrastructure, and ethical values development.</a:t>
            </a:r>
          </a:p>
          <a:p>
            <a:pPr marL="342900" lvl="0" indent="-342900" algn="just">
              <a:spcBef>
                <a:spcPts val="300"/>
              </a:spcBef>
              <a:spcAft>
                <a:spcPts val="300"/>
              </a:spcAft>
              <a:buFont typeface="Arial" panose="020B0604020202020204" pitchFamily="34" charset="0"/>
              <a:buChar char="•"/>
            </a:pPr>
            <a:r>
              <a:rPr lang="en-IN" sz="1400" dirty="0">
                <a:latin typeface="Arial" panose="020B0604020202020204" pitchFamily="34" charset="0"/>
                <a:ea typeface="Arial" panose="020B0604020202020204" pitchFamily="34" charset="0"/>
              </a:rPr>
              <a:t>Growing respondent base across all categories indicating increased stakeholder trust and participation.</a:t>
            </a:r>
          </a:p>
          <a:p>
            <a:pPr marL="342900" lvl="0" indent="-342900" algn="just">
              <a:spcBef>
                <a:spcPts val="300"/>
              </a:spcBef>
              <a:spcAft>
                <a:spcPts val="300"/>
              </a:spcAft>
              <a:buFont typeface="Arial" panose="020B0604020202020204" pitchFamily="34" charset="0"/>
              <a:buChar char="•"/>
            </a:pPr>
            <a:r>
              <a:rPr lang="en-IN" sz="1400" dirty="0">
                <a:latin typeface="Arial" panose="020B0604020202020204" pitchFamily="34" charset="0"/>
                <a:ea typeface="Arial" panose="020B0604020202020204" pitchFamily="34" charset="0"/>
              </a:rPr>
              <a:t>Strong PBL integration and technology-enabled teaching acknowledged by professional stakeholders.</a:t>
            </a:r>
          </a:p>
          <a:p>
            <a:pPr marL="342900" lvl="0" indent="-342900" algn="just">
              <a:spcBef>
                <a:spcPts val="300"/>
              </a:spcBef>
              <a:spcAft>
                <a:spcPts val="300"/>
              </a:spcAft>
              <a:buFont typeface="Arial" panose="020B0604020202020204" pitchFamily="34" charset="0"/>
              <a:buChar char="•"/>
            </a:pPr>
            <a:r>
              <a:rPr lang="en-IN" sz="1400" dirty="0">
                <a:latin typeface="Arial" panose="020B0604020202020204" pitchFamily="34" charset="0"/>
                <a:ea typeface="Arial" panose="020B0604020202020204" pitchFamily="34" charset="0"/>
              </a:rPr>
              <a:t>Employer recognition of improved teamwork, soft skills, and innovative thinking in graduates.</a:t>
            </a: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a:t>
            </a:r>
            <a:r>
              <a:rPr lang="en-US" sz="1400" kern="0" spc="200" dirty="0" smtClean="0">
                <a:latin typeface="Lato" panose="020F0502020204030203" pitchFamily="34" charset="0"/>
                <a:ea typeface="Calibri" pitchFamily="34" charset="-122"/>
                <a:cs typeface="Arial" panose="020B0604020202020204" pitchFamily="34" charset="0"/>
              </a:rPr>
              <a:t>Faculty </a:t>
            </a:r>
            <a:r>
              <a:rPr lang="en-US" sz="1400" kern="0" spc="200" dirty="0">
                <a:latin typeface="Lato" panose="020F0502020204030203" pitchFamily="34" charset="0"/>
                <a:ea typeface="Calibri" pitchFamily="34" charset="-122"/>
                <a:cs typeface="Arial" panose="020B0604020202020204" pitchFamily="34" charset="0"/>
              </a:rPr>
              <a:t>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774</TotalTime>
  <Words>788</Words>
  <Application>Microsoft Office PowerPoint</Application>
  <PresentationFormat>On-screen Show (16:9)</PresentationFormat>
  <Paragraphs>78</Paragraphs>
  <Slides>11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Aileron</vt:lpstr>
      <vt:lpstr>Aileron Bold</vt:lpstr>
      <vt:lpstr>Aileron Ultra-Bold</vt:lpstr>
      <vt:lpstr>Arial</vt:lpstr>
      <vt:lpstr>Calibri</vt:lpstr>
      <vt:lpstr>Lato</vt:lpstr>
      <vt:lpstr>Open Sans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Admin</cp:lastModifiedBy>
  <cp:revision>67</cp:revision>
  <dcterms:created xsi:type="dcterms:W3CDTF">2026-02-18T09:17:23Z</dcterms:created>
  <dcterms:modified xsi:type="dcterms:W3CDTF">2026-04-26T10:14:08Z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